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96883" y="545461"/>
            <a:ext cx="1079823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Aptos"/>
              </a:rPr>
              <a:t>GRAY CODE TO</a:t>
            </a:r>
            <a:r>
              <a:rPr lang="en-IN" sz="5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ptos"/>
              </a:rPr>
              <a:t>BINARY CODE</a:t>
            </a:r>
            <a:r>
              <a:rPr lang="en-IN" sz="5400" b="1" dirty="0">
                <a:solidFill>
                  <a:srgbClr val="FFFFFF"/>
                </a:solidFill>
                <a:latin typeface="Aptos"/>
              </a:rPr>
              <a:t> C</a:t>
            </a:r>
            <a:r>
              <a:rPr sz="5400" b="1" dirty="0">
                <a:solidFill>
                  <a:srgbClr val="FFFFFF"/>
                </a:solidFill>
                <a:latin typeface="Aptos"/>
              </a:rPr>
              <a:t>ONVERTER</a:t>
            </a:r>
            <a:endParaRPr lang="en-IN" sz="5400" b="1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IN" sz="5400" b="1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Presented by :</a:t>
            </a: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     Yagna </a:t>
            </a:r>
            <a:r>
              <a:rPr lang="en-IN" sz="2800" b="1" dirty="0" err="1">
                <a:solidFill>
                  <a:srgbClr val="FFFFFF"/>
                </a:solidFill>
                <a:latin typeface="Aptos"/>
              </a:rPr>
              <a:t>priya</a:t>
            </a:r>
            <a:r>
              <a:rPr lang="en-IN" sz="2800" b="1" dirty="0">
                <a:solidFill>
                  <a:srgbClr val="FFFFFF"/>
                </a:solidFill>
                <a:latin typeface="Aptos"/>
              </a:rPr>
              <a:t> – 2620090131</a:t>
            </a: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     Srikari – 2620040009</a:t>
            </a: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    Akshith Goud – 2620090065</a:t>
            </a: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    Vishwam – 2620030566</a:t>
            </a:r>
          </a:p>
          <a:p>
            <a:pPr algn="l"/>
            <a:r>
              <a:rPr lang="en-IN" sz="2800" b="1" dirty="0">
                <a:solidFill>
                  <a:srgbClr val="FFFFFF"/>
                </a:solidFill>
                <a:latin typeface="Aptos"/>
              </a:rPr>
              <a:t>    Teja Sai - 2620090141</a:t>
            </a:r>
          </a:p>
          <a:p>
            <a:pPr algn="l"/>
            <a:endParaRPr lang="en-IN" sz="54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1" dirty="0">
                <a:solidFill>
                  <a:srgbClr val="00BCD4"/>
                </a:solidFill>
                <a:latin typeface="Aptos"/>
              </a:rPr>
              <a:t>INTRODUCTION</a:t>
            </a:r>
            <a:endParaRPr sz="40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9120" y="1645920"/>
            <a:ext cx="1098804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Gray code is a binary numbering system in which two consecutive values differ by only one bit.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Binary code represents numbers using only 0 and 1.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A Gray-to-binary converter changes a Gray-code input into its equivalent binary output.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This project demonstrates the conversion using digital logic gates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>
                <a:solidFill>
                  <a:srgbClr val="00BCD4"/>
                </a:solidFill>
                <a:latin typeface="Aptos"/>
              </a:rPr>
              <a:t>PROBLEM STATEMENT &amp; OBJECTIVES</a:t>
            </a:r>
            <a:endParaRPr sz="36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9120" y="1645920"/>
            <a:ext cx="5212080" cy="4206240"/>
          </a:xfrm>
          <a:prstGeom prst="roundRect">
            <a:avLst/>
          </a:prstGeom>
          <a:solidFill>
            <a:srgbClr val="1C2B4E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2962FF"/>
                </a:solidFill>
                <a:latin typeface="Aptos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4572000" cy="2513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Gray code is not directly convenient for ordinary binary arithmetic.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A reliable circuit is needed to convert Gray input into binary output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212080" cy="4206240"/>
          </a:xfrm>
          <a:prstGeom prst="roundRect">
            <a:avLst/>
          </a:prstGeom>
          <a:solidFill>
            <a:srgbClr val="1C2B4E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59" y="1965960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00BCD4"/>
                </a:solidFill>
                <a:latin typeface="Apto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2606040"/>
            <a:ext cx="4572000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Design a combinational logic circuit.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Derive the conversion rules using XOR gates.</a:t>
            </a:r>
          </a:p>
          <a:p>
            <a:pPr>
              <a:spcAft>
                <a:spcPts val="16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rPr sz="2400" dirty="0"/>
              <a:t>Verify the output with a truth table and test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>
                <a:solidFill>
                  <a:srgbClr val="00BCD4"/>
                </a:solidFill>
                <a:latin typeface="Aptos"/>
              </a:rPr>
              <a:t>GRAY CODE  VS BINARY CODE</a:t>
            </a:r>
            <a:endParaRPr sz="36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CD4"/>
                </a:solidFill>
                <a:latin typeface="Aptos"/>
              </a:rPr>
              <a:t>BINARY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45920"/>
            <a:ext cx="4206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chemeClr val="accent5"/>
                </a:solidFill>
                <a:latin typeface="Aptos"/>
              </a:rPr>
              <a:t>GRAY CODE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0" y="2057400"/>
          <a:ext cx="63093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Decimal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Binary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Gray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011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010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101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BF2FF"/>
                </a:solidFill>
                <a:latin typeface="Aptos"/>
              </a:rPr>
              <a:t>Key idea: Gray code changes only one bit between adjacent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16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IN" sz="2900" b="1" dirty="0">
                <a:solidFill>
                  <a:srgbClr val="00BCD4"/>
                </a:solidFill>
                <a:latin typeface="Aptos"/>
              </a:rPr>
              <a:t>CONVERSION RULES</a:t>
            </a:r>
            <a:endParaRPr sz="29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E2ECFF"/>
                </a:solidFill>
                <a:latin typeface="Aptos"/>
              </a:rPr>
              <a:t>Remember only two rules to convert Gray code into binary.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12080" cy="3566160"/>
          </a:xfrm>
          <a:prstGeom prst="roundRect">
            <a:avLst/>
          </a:prstGeom>
          <a:solidFill>
            <a:srgbClr val="1D2D4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FFCA28"/>
                </a:solidFill>
                <a:latin typeface="Aptos"/>
              </a:rPr>
              <a:t>RULE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48056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Copy the first Gray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42976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3000" b="1">
                <a:solidFill>
                  <a:srgbClr val="00BCD4"/>
                </a:solidFill>
                <a:latin typeface="Aptos"/>
              </a:rPr>
              <a:t>B3 = G3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4389120" cy="594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0">
                <a:solidFill>
                  <a:srgbClr val="E2ECFF"/>
                </a:solidFill>
                <a:latin typeface="Aptos"/>
              </a:rPr>
              <a:t>Example: if G3 = 1, then B3 =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12080" cy="3566160"/>
          </a:xfrm>
          <a:prstGeom prst="roundRect">
            <a:avLst/>
          </a:prstGeom>
          <a:solidFill>
            <a:srgbClr val="1D2D4F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16459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FFCA28"/>
                </a:solidFill>
                <a:latin typeface="Aptos"/>
              </a:rPr>
              <a:t>RULE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44805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Use XOR for every next 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438912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900" b="1">
                <a:solidFill>
                  <a:srgbClr val="00BCD4"/>
                </a:solidFill>
                <a:latin typeface="Aptos"/>
              </a:rPr>
              <a:t>Next binary bit = Previous binary bit XOR Current Gray bit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160520"/>
            <a:ext cx="43891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0">
                <a:solidFill>
                  <a:srgbClr val="E2ECFF"/>
                </a:solidFill>
                <a:latin typeface="Aptos"/>
              </a:rPr>
              <a:t>XOR gives 0 for same inputs and 1 for different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228600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 dirty="0">
                <a:solidFill>
                  <a:srgbClr val="FFCA28"/>
                </a:solidFill>
                <a:latin typeface="Aptos"/>
              </a:rPr>
              <a:t>XOR TABLE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24377"/>
              </p:ext>
            </p:extLst>
          </p:nvPr>
        </p:nvGraphicFramePr>
        <p:xfrm>
          <a:off x="3108960" y="5257800"/>
          <a:ext cx="5943600" cy="998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1C38"/>
                          </a:solidFill>
                          <a:latin typeface="Aptos"/>
                        </a:rPr>
                        <a:t>Input A</a:t>
                      </a:r>
                    </a:p>
                  </a:txBody>
                  <a:tcPr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1C38"/>
                          </a:solidFill>
                          <a:latin typeface="Aptos"/>
                        </a:rPr>
                        <a:t>Input B</a:t>
                      </a:r>
                    </a:p>
                  </a:txBody>
                  <a:tcPr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1C38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>
                    <a:solidFill>
                      <a:srgbClr val="00BC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313"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FFFFFF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154680" y="6357574"/>
            <a:ext cx="59436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300" b="1" dirty="0">
                <a:solidFill>
                  <a:srgbClr val="E2ECFF"/>
                </a:solidFill>
                <a:latin typeface="Aptos"/>
              </a:rPr>
              <a:t>Different inputs: 0 ⊕ 1 = 1  |  1 ⊕ 0 =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4784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IN" sz="3200" b="1" dirty="0">
                <a:solidFill>
                  <a:srgbClr val="00BCD4"/>
                </a:solidFill>
                <a:latin typeface="Aptos"/>
              </a:rPr>
              <a:t>EXAMPLE : CONVERT </a:t>
            </a:r>
            <a:r>
              <a:rPr sz="3200" b="1" dirty="0">
                <a:solidFill>
                  <a:srgbClr val="00BCD4"/>
                </a:solidFill>
                <a:latin typeface="Aptos"/>
              </a:rPr>
              <a:t>1101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7432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FFCA28"/>
                </a:solidFill>
                <a:latin typeface="Aptos"/>
              </a:rPr>
              <a:t>GRAY INPUT (G)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57200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1       1       0       1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2004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BINARY OUTPUT (B)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54680"/>
            <a:ext cx="822960" cy="7315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7400" y="3154680"/>
            <a:ext cx="82296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154680"/>
            <a:ext cx="82296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154680"/>
            <a:ext cx="82296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691640"/>
            <a:ext cx="2560320" cy="1143000"/>
          </a:xfrm>
          <a:prstGeom prst="roundRect">
            <a:avLst/>
          </a:prstGeom>
          <a:solidFill>
            <a:srgbClr val="1D2D4F"/>
          </a:solidFill>
          <a:ln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178308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  <a:latin typeface="Aptos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039112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Copy first 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237744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00BCD4"/>
                </a:solidFill>
                <a:latin typeface="Aptos"/>
              </a:rPr>
              <a:t>B3 =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691640"/>
            <a:ext cx="2560320" cy="1143000"/>
          </a:xfrm>
          <a:prstGeom prst="roundRect">
            <a:avLst/>
          </a:prstGeom>
          <a:solidFill>
            <a:srgbClr val="1D2D4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178308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  <a:latin typeface="Aptos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039112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XOR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237744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00BCD4"/>
                </a:solidFill>
                <a:latin typeface="Aptos"/>
              </a:rPr>
              <a:t>B2 =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200400"/>
            <a:ext cx="2560320" cy="1143000"/>
          </a:xfrm>
          <a:prstGeom prst="roundRect">
            <a:avLst/>
          </a:prstGeom>
          <a:solidFill>
            <a:srgbClr val="1D2D4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88152" y="329184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  <a:latin typeface="Apto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88152" y="3547872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 XOR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388620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00BCD4"/>
                </a:solidFill>
                <a:latin typeface="Aptos"/>
              </a:rPr>
              <a:t>B1 =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3200400"/>
            <a:ext cx="2560320" cy="1143000"/>
          </a:xfrm>
          <a:prstGeom prst="roundRect">
            <a:avLst/>
          </a:prstGeom>
          <a:solidFill>
            <a:srgbClr val="1D2D4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68512" y="3291840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200" b="1">
                <a:solidFill>
                  <a:srgbClr val="FFCA28"/>
                </a:solidFill>
                <a:latin typeface="Aptos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3547872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0 XOR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886200"/>
            <a:ext cx="2240280" cy="29260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00BCD4"/>
                </a:solidFill>
                <a:latin typeface="Aptos"/>
              </a:rPr>
              <a:t>B0 =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17720"/>
            <a:ext cx="9966960" cy="960120"/>
          </a:xfrm>
          <a:prstGeom prst="roundRect">
            <a:avLst/>
          </a:prstGeom>
          <a:solidFill>
            <a:srgbClr val="1D2D4F"/>
          </a:solidFill>
          <a:ln>
            <a:solidFill>
              <a:srgbClr val="66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43000" y="4846320"/>
            <a:ext cx="95097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FINAL ANSWER:  Gray 1101  →  Binary 1001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06440"/>
            <a:ext cx="987552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700" b="0">
                <a:solidFill>
                  <a:srgbClr val="E2ECFF"/>
                </a:solidFill>
                <a:latin typeface="Aptos"/>
              </a:rPr>
              <a:t>Say: “Copy the first bit, then use XOR step by step.”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50167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lang="en-IN" sz="2900" b="1" dirty="0">
                <a:solidFill>
                  <a:srgbClr val="00BCD4"/>
                </a:solidFill>
                <a:latin typeface="Aptos"/>
              </a:rPr>
              <a:t>LOGIC CIRCUIT</a:t>
            </a:r>
            <a:endParaRPr sz="29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033271"/>
            <a:ext cx="10972800" cy="3474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E2ECFF"/>
                </a:solidFill>
                <a:latin typeface="Aptos"/>
              </a:rPr>
              <a:t>The first bit goes straight through; the other three bits use XOR gates.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FFCA28"/>
                </a:solidFill>
                <a:latin typeface="Aptos"/>
              </a:rPr>
              <a:t>GRAY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G3 =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G2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G1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058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G0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31720"/>
            <a:ext cx="2743200" cy="36576"/>
          </a:xfrm>
          <a:prstGeom prst="rect">
            <a:avLst/>
          </a:prstGeom>
          <a:solidFill>
            <a:srgbClr val="FFC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20116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800" b="1">
                <a:solidFill>
                  <a:srgbClr val="FFCA28"/>
                </a:solidFill>
                <a:latin typeface="Aptos"/>
              </a:rPr>
              <a:t>B3 = 1 (copy)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880360"/>
            <a:ext cx="1234440" cy="530352"/>
          </a:xfrm>
          <a:prstGeom prst="roundRect">
            <a:avLst/>
          </a:prstGeom>
          <a:solidFill>
            <a:srgbClr val="2962F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XOR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98648"/>
            <a:ext cx="2057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B2 = B3 ⊕ G2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89864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E2ECFF"/>
                </a:solidFill>
                <a:latin typeface="Aptos"/>
              </a:rPr>
              <a:t>1 ⊕ 1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8986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B2 =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3794760"/>
            <a:ext cx="1234440" cy="530352"/>
          </a:xfrm>
          <a:prstGeom prst="roundRect">
            <a:avLst/>
          </a:prstGeom>
          <a:solidFill>
            <a:srgbClr val="2962F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XOR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13048"/>
            <a:ext cx="2057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B1 = B2 ⊕ G1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81304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E2ECFF"/>
                </a:solidFill>
                <a:latin typeface="Aptos"/>
              </a:rPr>
              <a:t>0 ⊕ 0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8130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B1 =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709160"/>
            <a:ext cx="1234440" cy="530352"/>
          </a:xfrm>
          <a:prstGeom prst="roundRect">
            <a:avLst/>
          </a:prstGeom>
          <a:solidFill>
            <a:srgbClr val="2962FF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XOR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727448"/>
            <a:ext cx="20574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B0 = B1 ⊕ G0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72744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500" b="0">
                <a:solidFill>
                  <a:srgbClr val="E2ECFF"/>
                </a:solidFill>
                <a:latin typeface="Aptos"/>
              </a:rPr>
              <a:t>0 ⊕ 1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727448"/>
            <a:ext cx="128016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600" b="1">
                <a:solidFill>
                  <a:srgbClr val="00BCD4"/>
                </a:solidFill>
                <a:latin typeface="Aptos"/>
              </a:rPr>
              <a:t>B0 =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148840"/>
            <a:ext cx="2331720" cy="3200400"/>
          </a:xfrm>
          <a:prstGeom prst="roundRect">
            <a:avLst/>
          </a:prstGeom>
          <a:solidFill>
            <a:srgbClr val="1D2D4F"/>
          </a:solidFill>
          <a:ln>
            <a:solidFill>
              <a:srgbClr val="66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2468880"/>
            <a:ext cx="1920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500" b="1">
                <a:solidFill>
                  <a:srgbClr val="FFCA28"/>
                </a:solidFill>
                <a:latin typeface="Aptos"/>
              </a:rPr>
              <a:t>FINAL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017520"/>
            <a:ext cx="192024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500" b="1">
                <a:solidFill>
                  <a:srgbClr val="E2ECFF"/>
                </a:solidFill>
                <a:latin typeface="Aptos"/>
              </a:rPr>
              <a:t>B3 B2 B1 B0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520440"/>
            <a:ext cx="192024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1  0  0  1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251960"/>
            <a:ext cx="192024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700" b="1">
                <a:solidFill>
                  <a:srgbClr val="66D68C"/>
                </a:solidFill>
                <a:latin typeface="Aptos"/>
              </a:rPr>
              <a:t>Binary = 1001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69848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1700" b="1">
                <a:solidFill>
                  <a:srgbClr val="E2ECFF"/>
                </a:solidFill>
                <a:latin typeface="Aptos"/>
              </a:rPr>
              <a:t>Remember: one direct connection + three XOR gates = a 4-bit Gray-to-binary converter.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000" b="1" dirty="0">
                <a:solidFill>
                  <a:srgbClr val="00BCD4"/>
                </a:solidFill>
                <a:latin typeface="Aptos"/>
              </a:rPr>
              <a:t>TRUTH TABLE</a:t>
            </a:r>
            <a:r>
              <a:rPr sz="3000" b="1" dirty="0">
                <a:solidFill>
                  <a:srgbClr val="00BCD4"/>
                </a:solidFill>
                <a:latin typeface="Aptos"/>
              </a:rPr>
              <a:t> (</a:t>
            </a:r>
            <a:r>
              <a:rPr lang="en-IN" sz="3000" b="1" dirty="0">
                <a:solidFill>
                  <a:srgbClr val="00BCD4"/>
                </a:solidFill>
                <a:latin typeface="Aptos"/>
              </a:rPr>
              <a:t>BIT - EXAMPLE</a:t>
            </a:r>
            <a:r>
              <a:rPr sz="3000" b="1" dirty="0">
                <a:solidFill>
                  <a:srgbClr val="00BCD4"/>
                </a:solidFill>
                <a:latin typeface="Apto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BF2FF"/>
                </a:solidFill>
                <a:latin typeface="Aptos"/>
              </a:rPr>
              <a:t>Input Gray code and equivalent binary output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17520" y="1737360"/>
          <a:ext cx="6126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21C38"/>
                          </a:solidFill>
                          <a:latin typeface="Aptos"/>
                        </a:rPr>
                        <a:t>Gray G2G1G0</a:t>
                      </a:r>
                    </a:p>
                  </a:txBody>
                  <a:tcPr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21C38"/>
                          </a:solidFill>
                          <a:latin typeface="Aptos"/>
                        </a:rPr>
                        <a:t>Binary B2B1B0</a:t>
                      </a:r>
                    </a:p>
                  </a:txBody>
                  <a:tcPr>
                    <a:solidFill>
                      <a:srgbClr val="00BC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011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010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011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101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101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110</a:t>
                      </a:r>
                    </a:p>
                  </a:txBody>
                  <a:tcPr>
                    <a:solidFill>
                      <a:srgbClr val="1D30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FFFFFF"/>
                          </a:solidFill>
                          <a:latin typeface="Aptos"/>
                        </a:rPr>
                        <a:t>111</a:t>
                      </a:r>
                    </a:p>
                  </a:txBody>
                  <a:tcPr>
                    <a:solidFill>
                      <a:srgbClr val="2439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>
                <a:solidFill>
                  <a:srgbClr val="00BCD4"/>
                </a:solidFill>
                <a:latin typeface="Aptos"/>
              </a:rPr>
              <a:t>APPLICATIONS</a:t>
            </a:r>
            <a:endParaRPr sz="36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620982"/>
            <a:ext cx="107899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Rotary and position encoders: Gray code helps reduce errors when reading adjacent positions.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Digital systems: converts Gray-coded data into standard binary for processing.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Communication and control systems: supports reliable interpretation of encoded values.</a:t>
            </a:r>
          </a:p>
          <a:p>
            <a:pPr>
              <a:spcAft>
                <a:spcPts val="16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Digital electronics learning: demonstrates combinational logic and XOR gate use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dirty="0">
                <a:solidFill>
                  <a:srgbClr val="00BCD4"/>
                </a:solidFill>
                <a:latin typeface="Aptos"/>
              </a:rPr>
              <a:t>CONCLUSION</a:t>
            </a:r>
            <a:endParaRPr sz="3200" b="1" dirty="0">
              <a:solidFill>
                <a:srgbClr val="00BCD4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7899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A Gray-to-binary converter transforms Gray-coded input into binary output.</a:t>
            </a:r>
          </a:p>
          <a:p>
            <a:pPr>
              <a:spcAft>
                <a:spcPts val="16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The most significant bit is copied directly.</a:t>
            </a:r>
          </a:p>
          <a:p>
            <a:pPr>
              <a:spcAft>
                <a:spcPts val="16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Each next binary bit is obtained by XORing the previous binary bit with the current Gray bit.</a:t>
            </a:r>
          </a:p>
          <a:p>
            <a:pPr>
              <a:spcAft>
                <a:spcPts val="16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rPr sz="2800" dirty="0"/>
              <a:t>The design is simple, fast, and can be implemented using XOR gates.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465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5B9DC"/>
                </a:solidFill>
                <a:latin typeface="Aptos"/>
              </a:rPr>
              <a:t>DDCA PROJECT  • 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648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YUVARAJ ADIRAJU</dc:creator>
  <cp:keywords/>
  <dc:description>generated using python-pptx</dc:description>
  <cp:lastModifiedBy>YUVARAJ ADIRAJU</cp:lastModifiedBy>
  <cp:revision>2</cp:revision>
  <dcterms:created xsi:type="dcterms:W3CDTF">2013-01-27T09:14:16Z</dcterms:created>
  <dcterms:modified xsi:type="dcterms:W3CDTF">2026-10-14T16:30:19Z</dcterms:modified>
  <cp:category/>
</cp:coreProperties>
</file>